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e9e2dda5454b05" /><Relationship Type="http://schemas.openxmlformats.org/officeDocument/2006/relationships/extended-properties" Target="/docProps/app.xml" Id="Rfa11654428734b95" /><Relationship Type="http://schemas.openxmlformats.org/officeDocument/2006/relationships/officeDocument" Target="/ppt/presentation.xml" Id="Rfde779bb6d6246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e1de82f8cc4036"/>
  </p:sldMasterIdLst>
  <p:notesMasterIdLst>
    <p:notesMasterId xmlns:r="http://schemas.openxmlformats.org/officeDocument/2006/relationships" r:id="R4c2fe8a39d8a43bd"/>
  </p:notesMasterIdLst>
  <p:sldIdLst>
    <p:sldId xmlns:r="http://schemas.openxmlformats.org/officeDocument/2006/relationships" id="256" r:id="R1fd839abc5a44fba"/>
    <p:sldId xmlns:r="http://schemas.openxmlformats.org/officeDocument/2006/relationships" id="257" r:id="R90a2b738e5434930"/>
    <p:sldId xmlns:r="http://schemas.openxmlformats.org/officeDocument/2006/relationships" id="258" r:id="Ra1840308442541e8"/>
    <p:sldId xmlns:r="http://schemas.openxmlformats.org/officeDocument/2006/relationships" id="259" r:id="R661cd6b7b9754385"/>
    <p:sldId xmlns:r="http://schemas.openxmlformats.org/officeDocument/2006/relationships" id="260" r:id="R518590097df844c4"/>
    <p:sldId xmlns:r="http://schemas.openxmlformats.org/officeDocument/2006/relationships" id="261" r:id="R2106bd15b4074ffd"/>
    <p:sldId xmlns:r="http://schemas.openxmlformats.org/officeDocument/2006/relationships" id="262" r:id="R9cc07215764e43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631484b3f347f9" /><Relationship Type="http://schemas.openxmlformats.org/officeDocument/2006/relationships/slideMaster" Target="/ppt/slideMasters/slideMaster1.xml" Id="R95e1de82f8cc4036" /><Relationship Type="http://schemas.openxmlformats.org/officeDocument/2006/relationships/notesMaster" Target="/ppt/notesMasters/notesMaster1.xml" Id="R4c2fe8a39d8a43bd" /><Relationship Type="http://schemas.openxmlformats.org/officeDocument/2006/relationships/presProps" Target="/ppt/presProps.xml" Id="R43764924800745bd" /><Relationship Type="http://schemas.openxmlformats.org/officeDocument/2006/relationships/tableStyles" Target="/ppt/tableStyles.xml" Id="R3c4001b6b3dd43b4" /><Relationship Type="http://schemas.openxmlformats.org/officeDocument/2006/relationships/slide" Target="/ppt/slides/slide1.xml" Id="R1fd839abc5a44fba" /><Relationship Type="http://schemas.openxmlformats.org/officeDocument/2006/relationships/slide" Target="/ppt/slides/slide2.xml" Id="R90a2b738e5434930" /><Relationship Type="http://schemas.openxmlformats.org/officeDocument/2006/relationships/slide" Target="/ppt/slides/slide3.xml" Id="Ra1840308442541e8" /><Relationship Type="http://schemas.openxmlformats.org/officeDocument/2006/relationships/slide" Target="/ppt/slides/slide4.xml" Id="R661cd6b7b9754385" /><Relationship Type="http://schemas.openxmlformats.org/officeDocument/2006/relationships/slide" Target="/ppt/slides/slide5.xml" Id="R518590097df844c4" /><Relationship Type="http://schemas.openxmlformats.org/officeDocument/2006/relationships/slide" Target="/ppt/slides/slide6.xml" Id="R2106bd15b4074ffd" /><Relationship Type="http://schemas.openxmlformats.org/officeDocument/2006/relationships/slide" Target="/ppt/slides/slide7.xml" Id="R9cc07215764e43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61401932384e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af21ccdcc34ef8" /><Relationship Type="http://schemas.openxmlformats.org/officeDocument/2006/relationships/notesMaster" Target="/ppt/notesMasters/notesMaster1.xml" Id="R72a7112e32304e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f724adff354332" /><Relationship Type="http://schemas.openxmlformats.org/officeDocument/2006/relationships/notesMaster" Target="/ppt/notesMasters/notesMaster1.xml" Id="R968986fec8b143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f1caff29a842ce" /><Relationship Type="http://schemas.openxmlformats.org/officeDocument/2006/relationships/notesMaster" Target="/ppt/notesMasters/notesMaster1.xml" Id="R750949a1db4e42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8e7734f9c74d26" /><Relationship Type="http://schemas.openxmlformats.org/officeDocument/2006/relationships/notesMaster" Target="/ppt/notesMasters/notesMaster1.xml" Id="Rc9e6154f78da42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974ee308ee4de3" /><Relationship Type="http://schemas.openxmlformats.org/officeDocument/2006/relationships/notesMaster" Target="/ppt/notesMasters/notesMaster1.xml" Id="R8ce5a22e628d4e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8b461517514dbd" /><Relationship Type="http://schemas.openxmlformats.org/officeDocument/2006/relationships/notesMaster" Target="/ppt/notesMasters/notesMaster1.xml" Id="R9baa4b8fcb9b45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1721d496e745dc" /><Relationship Type="http://schemas.openxmlformats.org/officeDocument/2006/relationships/notesMaster" Target="/ppt/notesMasters/notesMaster1.xml" Id="Rf6cc5bb23d5a43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项目依据：AGENT.md、docs/rhythm-game-2026-10-03.md、docs/rhythm-stage4-2026-10-03.md、current-state.md。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预期成果为结合赛题目标和当前工程形态归纳的目标描述。当前尚无 bitstream 和板级整曲验证，不应将目标表述为已完成。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技术信息源：README.md；docs/rhythm-game-2026-10-03.md；docs/rhythm-stage4-2026-10-03.md。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量化数据来自 docs/rhythm-game-2026-10-03.md 与 docs/rhythm-stage4-2026-10-03.md。最新物理实现情况以 current-state.md（2026-10-06）为准：LUT 17948/19600（91.57%），setup −2.472/−398.316 ns，hold/removal −0.020/−0.115 ns；没有 bitstream；板级 E8 根因尚未唯一确认。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5c4a5fce6d47c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4ce496dd38458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a0230a7174405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4b41053bb448e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78c9de538d426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8dc1666c9548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E0FE7D-FD39-487D-BB66-74758ACAEA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20FFA7F-F4C5-486A-8E6A-164A69F5B9B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02B93A9-4356-4D0F-ABE6-7420A06318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96850C1-0CD0-4405-B7DA-1A55BE2D62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3786A43-6026-4AE3-8008-B8D60B675A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F1A6A8E-F4D4-43E6-B3B6-DC19C9FB2E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1B27198-7C07-4DA3-AA2A-B78474A37E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AADBBB6-DD6C-4101-81E5-F0B39394577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E13FDA-AC93-45E4-835B-675AF4BF71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2A037C6-F0D9-4D50-9808-B846AD7DB9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242dd3090e449b" /><Relationship Type="http://schemas.openxmlformats.org/officeDocument/2006/relationships/slideLayout" Target="/ppt/slideLayouts/slideLayout1.xml" Id="R49009ba2f8534b2b" /><Relationship Type="http://schemas.openxmlformats.org/officeDocument/2006/relationships/slideLayout" Target="/ppt/slideLayouts/slideLayout2.xml" Id="Re57ca192a92f436e" /><Relationship Type="http://schemas.openxmlformats.org/officeDocument/2006/relationships/slideLayout" Target="/ppt/slideLayouts/slideLayout3.xml" Id="Re919c82c71ff4ea5" /><Relationship Type="http://schemas.openxmlformats.org/officeDocument/2006/relationships/slideLayout" Target="/ppt/slideLayouts/slideLayout4.xml" Id="R4113fdeebdc14631" /><Relationship Type="http://schemas.openxmlformats.org/officeDocument/2006/relationships/slideLayout" Target="/ppt/slideLayouts/slideLayout5.xml" Id="Raea49748265649d5" /><Relationship Type="http://schemas.openxmlformats.org/officeDocument/2006/relationships/slideLayout" Target="/ppt/slideLayouts/slideLayout6.xml" Id="R1b4106ed9bf242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009ba2f8534b2b"/>
    <p:sldLayoutId xmlns:r="http://schemas.openxmlformats.org/officeDocument/2006/relationships" id="2147483650" r:id="Re57ca192a92f436e"/>
    <p:sldLayoutId xmlns:r="http://schemas.openxmlformats.org/officeDocument/2006/relationships" id="2147483651" r:id="Re919c82c71ff4ea5"/>
    <p:sldLayoutId xmlns:r="http://schemas.openxmlformats.org/officeDocument/2006/relationships" id="2147483652" r:id="R4113fdeebdc14631"/>
    <p:sldLayoutId xmlns:r="http://schemas.openxmlformats.org/officeDocument/2006/relationships" id="2147483653" r:id="Raea49748265649d5"/>
    <p:sldLayoutId xmlns:r="http://schemas.openxmlformats.org/officeDocument/2006/relationships" id="2147483654" r:id="R1b4106ed9bf242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efeb6cea7b4924" /><Relationship Type="http://schemas.openxmlformats.org/officeDocument/2006/relationships/notesSlide" Target="/ppt/notesSlides/notesSlide1.xml" Id="R083773e4fe3940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03d05194dc47af" /><Relationship Type="http://schemas.openxmlformats.org/officeDocument/2006/relationships/notesSlide" Target="/ppt/notesSlides/notesSlide2.xml" Id="Rcb23717ee73e41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30c77c335e40d6" /><Relationship Type="http://schemas.openxmlformats.org/officeDocument/2006/relationships/notesSlide" Target="/ppt/notesSlides/notesSlide3.xml" Id="R832d82c122a044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ef9b0191f84427" /><Relationship Type="http://schemas.openxmlformats.org/officeDocument/2006/relationships/notesSlide" Target="/ppt/notesSlides/notesSlide4.xml" Id="R7bd0a78dcf2248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77954ad56548a9" /><Relationship Type="http://schemas.openxmlformats.org/officeDocument/2006/relationships/notesSlide" Target="/ppt/notesSlides/notesSlide5.xml" Id="R85793524023941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473a01142549d1" /><Relationship Type="http://schemas.openxmlformats.org/officeDocument/2006/relationships/notesSlide" Target="/ppt/notesSlides/notesSlide6.xml" Id="R917c43a17c7b48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becf24e96149a5" /><Relationship Type="http://schemas.openxmlformats.org/officeDocument/2006/relationships/notesSlide" Target="/ppt/notesSlides/notesSlide7.xml" Id="R3668322eb93b41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415833-B49F-47EB-80AC-415D0B7C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12CCE4-B492-4EEA-8396-166C8143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238250"/>
            <a:ext cx="628650" cy="40957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B4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0192D-720E-4FA9-AC1D-63BE267F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90950"/>
            <a:ext cx="4000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DDD725-C25B-4910-830B-ADFEF21F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38250"/>
            <a:ext cx="628650" cy="40957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73A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BED1DD-E989-47EA-8E85-7D243BAA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09900"/>
            <a:ext cx="4000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1A42F0-53F8-4D6A-A037-038C10BF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238250"/>
            <a:ext cx="628650" cy="40957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B4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DA43D4-1CF2-4D80-9134-B5FF4058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90950"/>
            <a:ext cx="4000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8B19CF-E801-41A6-A355-F9E2F158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238250"/>
            <a:ext cx="628650" cy="40957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73A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E1D072-5557-4CE6-A427-A9C26616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09900"/>
            <a:ext cx="4000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5A304-74E7-4B7F-BFDD-269F9F9E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14850"/>
            <a:ext cx="415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23BC38-CBDA-4AC2-84DA-906CB623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48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125" b="0">
                <a:solidFill>
                  <a:srgbClr val="BBD5E2"/>
                </a:solidFill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BBD5E2"/>
                </a:solidFill>
              </a:defRPr>
            </a:pPr>
            <a:r>
              <a:rPr sz="1125" b="0">
                <a:solidFill>
                  <a:srgbClr val="BBD5E2"/>
                </a:solidFill>
              </a:rPr>
              <a:t>判定线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2F1A9E-70C8-4FE4-B042-A2A45981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FPGA 音画联动音游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5F1EA-AEA0-4112-A4CB-438C3A68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250" b="0">
                <a:solidFill>
                  <a:srgbClr val="BFEFF0"/>
                </a:solidFill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BFEFF0"/>
                </a:solidFill>
              </a:defRPr>
            </a:pPr>
            <a:r>
              <a:rPr sz="2250" b="0">
                <a:solidFill>
                  <a:srgbClr val="BFEFF0"/>
                </a:solidFill>
              </a:rPr>
              <a:t>赛题预期成果与阶段进展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5B53ED-5779-48F2-9A93-BFB768C9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8191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AF8DAB-3819-499D-9A63-B11F280C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D9E6EE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9E6EE"/>
                </a:solidFill>
              </a:defRPr>
            </a:pPr>
            <a:r>
              <a:rPr sz="1425" b="0">
                <a:solidFill>
                  <a:srgbClr val="D9E6EE"/>
                </a:solidFill>
              </a:rPr>
              <a:t>安路 EG4S20｜Verilog｜SD 卡资源｜HDMI 显示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0E9F3D-9E82-43E6-845F-0C9F52A5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A9BFCE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9BFCE"/>
                </a:solidFill>
              </a:defRPr>
            </a:pPr>
            <a:r>
              <a:rPr sz="1275" b="0">
                <a:solidFill>
                  <a:srgbClr val="A9BFCE"/>
                </a:solidFill>
              </a:rPr>
              <a:t>阶段汇报 · 约 3–4 分钟</a:t>
            </a:r>
          </a:p>
        </p:txBody>
      </p:sp>
    </p:spTree>
    <p:extLst>
      <p:ext uri="{BB962C8B-B14F-4D97-AF65-F5344CB8AC3E}">
        <p14:creationId xmlns:p14="http://schemas.microsoft.com/office/powerpoint/2010/main" val="12556735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2EF378-9C84-4F4E-B3F9-A5574DBD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0F2EA-41B1-4599-B757-6C24EEE2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赛题预期成果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7A76D-E7EE-44B4-91C5-DF82E821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21770E-17F9-4206-880E-12414EB4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71839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718397"/>
                </a:solidFill>
              </a:defRPr>
            </a:pPr>
            <a:r>
              <a:rPr sz="1050" b="1">
                <a:solidFill>
                  <a:srgbClr val="718397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AB596-D22D-4145-8307-864FDBB9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385064"/>
                </a:solidFill>
              </a:defRPr>
            </a:pPr>
            <a:r>
              <a:rPr sz="1800" b="1">
                <a:solidFill>
                  <a:srgbClr val="385064"/>
                </a:solidFill>
              </a:rPr>
              <a:t>目标是交付可演示的 FPGA 四轨音画联动音游原型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A97475-8FC5-460A-A4B9-3C0B943A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476500" cy="283845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BA3347-212D-4FCF-9575-84ABB36A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3CC6C8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CC6C8"/>
                </a:solidFill>
              </a:defRPr>
            </a:pPr>
            <a:r>
              <a:rPr sz="1350" b="1">
                <a:solidFill>
                  <a:srgbClr val="3CC6C8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72292F-0BAE-4968-A7E5-B604C292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243A"/>
                </a:solidFill>
              </a:defRPr>
            </a:pPr>
            <a:r>
              <a:rPr sz="1725" b="1">
                <a:solidFill>
                  <a:srgbClr val="10243A"/>
                </a:solidFill>
              </a:rPr>
              <a:t>可运行的四轨玩法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30C545-AEE6-4079-8272-B7C49A4C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A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6274F5-5C0C-4BF4-A8A5-6B7FEA85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209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385064"/>
                </a:solidFill>
              </a:defRPr>
            </a:pPr>
            <a:r>
              <a:rPr sz="1350" b="0">
                <a:solidFill>
                  <a:srgbClr val="385064"/>
                </a:solidFill>
              </a:rPr>
              <a:t>Tap / Hold 音符</a:t>
            </a:r>
          </a:p>
          <a:p xmlns:a="http://schemas.openxmlformats.org/drawingml/2006/main">
            <a:pPr algn="l">
              <a:defRPr sz="1350" b="0">
                <a:solidFill>
                  <a:srgbClr val="385064"/>
                </a:solidFill>
              </a:defRPr>
            </a:pPr>
            <a:r>
              <a:rPr sz="1350" b="0">
                <a:solidFill>
                  <a:srgbClr val="385064"/>
                </a:solidFill>
              </a:rPr>
              <a:t>四轨判定、连击与结算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5B1C71-0498-42E8-81EE-43F9C645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2476500" cy="283845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6CD540-DAEF-45F8-A6C6-87C212FC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241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3CC6C8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CC6C8"/>
                </a:solidFill>
              </a:defRPr>
            </a:pPr>
            <a:r>
              <a:rPr sz="1350" b="1">
                <a:solidFill>
                  <a:srgbClr val="3CC6C8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EBE729-8140-49C6-8C38-C96CA807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38450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243A"/>
                </a:solidFill>
              </a:defRPr>
            </a:pPr>
            <a:r>
              <a:rPr sz="1725" b="1">
                <a:solidFill>
                  <a:srgbClr val="10243A"/>
                </a:solidFill>
              </a:rPr>
              <a:t>音乐与判定同步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EEB559-1E15-421A-8551-09D3AA8F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76625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A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44DC9F-6F28-4AAE-817D-56EF6CD7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76650"/>
            <a:ext cx="209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385064"/>
                </a:solidFill>
              </a:defRPr>
            </a:pPr>
            <a:r>
              <a:rPr sz="1350" b="0">
                <a:solidFill>
                  <a:srgbClr val="385064"/>
                </a:solidFill>
              </a:rPr>
              <a:t>从 SD 卡读取谱面和 PCM 音频</a:t>
            </a:r>
          </a:p>
          <a:p xmlns:a="http://schemas.openxmlformats.org/drawingml/2006/main">
            <a:pPr algn="l">
              <a:defRPr sz="1350" b="0">
                <a:solidFill>
                  <a:srgbClr val="385064"/>
                </a:solidFill>
              </a:defRPr>
            </a:pPr>
            <a:r>
              <a:rPr sz="1350" b="0">
                <a:solidFill>
                  <a:srgbClr val="385064"/>
                </a:solidFill>
              </a:rPr>
              <a:t>播放时间驱动下落与判定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2EE755-A1DD-4A88-BB71-9885C690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2476500" cy="283845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527A43-C5F5-4B49-87B4-444125EA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241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3CC6C8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CC6C8"/>
                </a:solidFill>
              </a:defRPr>
            </a:pPr>
            <a:r>
              <a:rPr sz="1350" b="1">
                <a:solidFill>
                  <a:srgbClr val="3CC6C8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82ECBE-7B53-4DCC-A8D4-49D2A241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38450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243A"/>
                </a:solidFill>
              </a:defRPr>
            </a:pPr>
            <a:r>
              <a:rPr sz="1725" b="1">
                <a:solidFill>
                  <a:srgbClr val="10243A"/>
                </a:solidFill>
              </a:rPr>
              <a:t>完整游戏画面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46805D-C2BD-453D-BDEE-B951778C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76625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A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85F807-DD40-43EA-B8BB-11DCBE56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76650"/>
            <a:ext cx="209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385064"/>
                </a:solidFill>
              </a:defRPr>
            </a:pPr>
            <a:r>
              <a:rPr sz="1350" b="0">
                <a:solidFill>
                  <a:srgbClr val="385064"/>
                </a:solidFill>
              </a:rPr>
              <a:t>HDMI 输出游戏 HUD</a:t>
            </a:r>
          </a:p>
          <a:p xmlns:a="http://schemas.openxmlformats.org/drawingml/2006/main">
            <a:pPr algn="l">
              <a:defRPr sz="1350" b="0">
                <a:solidFill>
                  <a:srgbClr val="385064"/>
                </a:solidFill>
              </a:defRPr>
            </a:pPr>
            <a:r>
              <a:rPr sz="1350" b="0">
                <a:solidFill>
                  <a:srgbClr val="385064"/>
                </a:solidFill>
              </a:rPr>
              <a:t>结合背景图与进度、分数显示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B407F6-C8A2-4410-A066-3CAFD546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0"/>
            <a:ext cx="2476500" cy="283845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8F1D87-C59C-4847-B4E7-DEFB8460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241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3CC6C8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CC6C8"/>
                </a:solidFill>
              </a:defRPr>
            </a:pPr>
            <a:r>
              <a:rPr sz="1350" b="1">
                <a:solidFill>
                  <a:srgbClr val="3CC6C8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534A16-AF46-45FD-9BDA-67C66486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38450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243A"/>
                </a:solidFill>
              </a:defRPr>
            </a:pPr>
            <a:r>
              <a:rPr sz="1725" b="1">
                <a:solidFill>
                  <a:srgbClr val="10243A"/>
                </a:solidFill>
              </a:rPr>
              <a:t>可复现的工程交付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177362-C50C-4336-B31D-2A3F09AE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76625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A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4F30DD-872F-4841-93BB-3C37B723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76650"/>
            <a:ext cx="209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385064"/>
                </a:solidFill>
              </a:defRPr>
            </a:pPr>
            <a:r>
              <a:rPr sz="1350" b="0">
                <a:solidFill>
                  <a:srgbClr val="385064"/>
                </a:solidFill>
              </a:rPr>
              <a:t>转换工具、资源格式、RTL 与回归</a:t>
            </a:r>
          </a:p>
          <a:p xmlns:a="http://schemas.openxmlformats.org/drawingml/2006/main">
            <a:pPr algn="l">
              <a:defRPr sz="1350" b="0">
                <a:solidFill>
                  <a:srgbClr val="385064"/>
                </a:solidFill>
              </a:defRPr>
            </a:pPr>
            <a:r>
              <a:rPr sz="1350" b="0">
                <a:solidFill>
                  <a:srgbClr val="385064"/>
                </a:solidFill>
              </a:rPr>
              <a:t>形成可复测的完整流程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8896F9-586D-4CA7-9CA5-A7CC096A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9A0867-B617-450B-BD46-FAC956E6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62575"/>
            <a:ext cx="1051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最终展示目标：上板运行一首谱面与音乐同步的游戏，并验证暂停、重开、结算与原媒体功能切换。</a:t>
            </a:r>
          </a:p>
        </p:txBody>
      </p:sp>
    </p:spTree>
    <p:extLst>
      <p:ext uri="{BB962C8B-B14F-4D97-AF65-F5344CB8AC3E}">
        <p14:creationId xmlns:p14="http://schemas.microsoft.com/office/powerpoint/2010/main" val="6965065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6E76D8-B130-4FAE-99E7-A78B51ED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3174AE-34FD-446D-8F5E-B56B0182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主要技术路线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A112A3-7A15-47A5-A37E-2BBD9AB9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E7D533-1327-4528-BC57-32A069B8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71839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718397"/>
                </a:solidFill>
              </a:defRPr>
            </a:pPr>
            <a:r>
              <a:rPr sz="1050" b="1">
                <a:solidFill>
                  <a:srgbClr val="718397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ABC8A-2E53-4883-9862-4056DCB1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3812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8F11F2-BB62-4804-9C9E-98F0BEF8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谱面 / 音频资源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35B9DA-697A-46DF-800D-76F9E96E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90725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D5E7EF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5E7EF"/>
                </a:solidFill>
              </a:defRPr>
            </a:pPr>
            <a:r>
              <a:rPr sz="1125" b="0">
                <a:solidFill>
                  <a:srgbClr val="D5E7EF"/>
                </a:solidFill>
              </a:rPr>
              <a:t>OSZ 转换成四轨谱面 BIN</a:t>
            </a:r>
          </a:p>
          <a:p xmlns:a="http://schemas.openxmlformats.org/drawingml/2006/main">
            <a:pPr algn="l">
              <a:defRPr sz="1125" b="0">
                <a:solidFill>
                  <a:srgbClr val="D5E7EF"/>
                </a:solidFill>
              </a:defRPr>
            </a:pPr>
            <a:r>
              <a:rPr sz="1125" b="0">
                <a:solidFill>
                  <a:srgbClr val="D5E7EF"/>
                </a:solidFill>
              </a:rPr>
              <a:t>WAV 规范为 48 kHz PCM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EA0656-78A3-4066-8FFB-E3E71701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838325"/>
            <a:ext cx="228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3CC6C8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3CC6C8"/>
                </a:solidFill>
              </a:defRPr>
            </a:pPr>
            <a:r>
              <a:rPr sz="1800" b="1">
                <a:solidFill>
                  <a:srgbClr val="3CC6C8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8501BE-5D40-4E54-8282-BDB78489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581150"/>
            <a:ext cx="23812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EDF947-4CA1-4FC1-8033-62BD12CD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6764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43A"/>
                </a:solidFill>
              </a:defRPr>
            </a:pPr>
            <a:r>
              <a:rPr sz="1500" b="1">
                <a:solidFill>
                  <a:srgbClr val="10243A"/>
                </a:solidFill>
              </a:rPr>
              <a:t>SD 与 FAT32 读取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BDE215-07EC-4A25-8267-970AC46E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90725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385064"/>
                </a:solidFill>
              </a:defRPr>
            </a:pPr>
            <a:r>
              <a:rPr sz="1125" b="0">
                <a:solidFill>
                  <a:srgbClr val="385064"/>
                </a:solidFill>
              </a:rPr>
              <a:t>识别目录、簇链与文件</a:t>
            </a:r>
          </a:p>
          <a:p xmlns:a="http://schemas.openxmlformats.org/drawingml/2006/main">
            <a:pPr algn="l">
              <a:defRPr sz="1125" b="0">
                <a:solidFill>
                  <a:srgbClr val="385064"/>
                </a:solidFill>
              </a:defRPr>
            </a:pPr>
            <a:r>
              <a:rPr sz="1125" b="0">
                <a:solidFill>
                  <a:srgbClr val="385064"/>
                </a:solidFill>
              </a:rPr>
              <a:t>谱面预取 + PCM 缓冲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DA92FF-B943-4E31-ADA0-801E4C3E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1838325"/>
            <a:ext cx="228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3CC6C8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3CC6C8"/>
                </a:solidFill>
              </a:defRPr>
            </a:pPr>
            <a:r>
              <a:rPr sz="1800" b="1">
                <a:solidFill>
                  <a:srgbClr val="3CC6C8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A592B-1532-47C0-9E94-683D77B7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81150"/>
            <a:ext cx="23812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40F17F-424B-4422-A67B-E699AF0A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764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43A"/>
                </a:solidFill>
              </a:defRPr>
            </a:pPr>
            <a:r>
              <a:rPr sz="1500" b="1">
                <a:solidFill>
                  <a:srgbClr val="10243A"/>
                </a:solidFill>
              </a:rPr>
              <a:t>FPGA 音游核心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B98FDC-6B65-40C4-A236-32895133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90725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385064"/>
                </a:solidFill>
              </a:defRPr>
            </a:pPr>
            <a:r>
              <a:rPr sz="1125" b="0">
                <a:solidFill>
                  <a:srgbClr val="385064"/>
                </a:solidFill>
              </a:rPr>
              <a:t>Verilog 状态机与 FIFO</a:t>
            </a:r>
          </a:p>
          <a:p xmlns:a="http://schemas.openxmlformats.org/drawingml/2006/main">
            <a:pPr algn="l">
              <a:defRPr sz="1125" b="0">
                <a:solidFill>
                  <a:srgbClr val="385064"/>
                </a:solidFill>
              </a:defRPr>
            </a:pPr>
            <a:r>
              <a:rPr sz="1125" b="0">
                <a:solidFill>
                  <a:srgbClr val="385064"/>
                </a:solidFill>
              </a:rPr>
              <a:t>四轨 Tap / Hold 判定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2012E3-A2BB-44C1-B2A3-9F8AD76F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838325"/>
            <a:ext cx="228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3CC6C8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3CC6C8"/>
                </a:solidFill>
              </a:defRPr>
            </a:pPr>
            <a:r>
              <a:rPr sz="1800" b="1">
                <a:solidFill>
                  <a:srgbClr val="3CC6C8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E39918-0145-4B62-B0FC-692BCEA6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581150"/>
            <a:ext cx="23812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173A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8EC5C5-97FF-4935-885B-5A57D276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764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HDMI 游戏呈现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4761E3-EF15-4674-9D81-CFBBA9F1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90725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D5E7EF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5E7EF"/>
                </a:solidFill>
              </a:defRPr>
            </a:pPr>
            <a:r>
              <a:rPr sz="1125" b="0">
                <a:solidFill>
                  <a:srgbClr val="D5E7EF"/>
                </a:solidFill>
              </a:rPr>
              <a:t>640×480 HUD 叠加</a:t>
            </a:r>
          </a:p>
          <a:p xmlns:a="http://schemas.openxmlformats.org/drawingml/2006/main">
            <a:pPr algn="l">
              <a:defRPr sz="1125" b="0">
                <a:solidFill>
                  <a:srgbClr val="D5E7EF"/>
                </a:solidFill>
              </a:defRPr>
            </a:pPr>
            <a:r>
              <a:rPr sz="1125" b="0">
                <a:solidFill>
                  <a:srgbClr val="D5E7EF"/>
                </a:solidFill>
              </a:rPr>
              <a:t>背景锁定、分数与进度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A6D71B-BA03-4BDC-BDF0-13F4EF00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0243A"/>
                </a:solidFill>
              </a:defRPr>
            </a:pPr>
            <a:r>
              <a:rPr sz="1650" b="1">
                <a:solidFill>
                  <a:srgbClr val="10243A"/>
                </a:solidFill>
              </a:rPr>
              <a:t>工程与验证支撑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4E3FFE-1F15-4A03-86FD-E6DB7DFB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AE0839-BF71-445A-8FF4-79F6A813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10363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385064"/>
                </a:solidFill>
              </a:defRPr>
            </a:pPr>
            <a:r>
              <a:rPr sz="1425" b="0">
                <a:solidFill>
                  <a:srgbClr val="385064"/>
                </a:solidFill>
              </a:rPr>
              <a:t>安路 TD 工程与 Verilog RTL；保留现有 HDMI、SDRAM、时钟与 IP 接口。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AC118C-E5FE-43AA-9EDB-FE570D80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2DAE64-2FF9-42AF-8E84-917BD018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48125"/>
            <a:ext cx="10363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385064"/>
                </a:solidFill>
              </a:defRPr>
            </a:pPr>
            <a:r>
              <a:rPr sz="1425" b="0">
                <a:solidFill>
                  <a:srgbClr val="385064"/>
                </a:solidFill>
              </a:rPr>
              <a:t>跨时钟域同步、ready/valid 握手、BRAM 队列打包和音频低水位优先仲裁。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FE790B-4F30-40FA-8F68-E6F7C996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7A4482-CB36-4B3C-92BB-0760C127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10363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385064"/>
                </a:solidFill>
              </a:defRPr>
            </a:pPr>
            <a:r>
              <a:rPr sz="1425" b="0">
                <a:solidFill>
                  <a:srgbClr val="385064"/>
                </a:solidFill>
              </a:rPr>
              <a:t>ModelSim 模块与集成回归；安路 TD 综合 / 布线检查资源占用及时序。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A1FA2A-EB68-4761-BF73-CEACDA4A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9E6829-33D4-4A28-A0EE-BBC50A1B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97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845B2F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845B2F"/>
                </a:solidFill>
              </a:defRPr>
            </a:pPr>
            <a:r>
              <a:rPr sz="1350" b="1">
                <a:solidFill>
                  <a:srgbClr val="845B2F"/>
                </a:solidFill>
              </a:rPr>
              <a:t>图像链保留双线性缩放器（赛题约束）；游戏模式复用现有视频与媒体工程。</a:t>
            </a:r>
          </a:p>
        </p:txBody>
      </p:sp>
    </p:spTree>
    <p:extLst>
      <p:ext uri="{BB962C8B-B14F-4D97-AF65-F5344CB8AC3E}">
        <p14:creationId xmlns:p14="http://schemas.microsoft.com/office/powerpoint/2010/main" val="3535300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9CE09F-9088-40D9-AF7F-450099D1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95E3B7-5E89-42A3-8ACF-4D3903BC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已取得的成果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6526EA-5D41-4A2E-9C61-6C7157E1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D7EC2D-BBDA-42FB-8F34-829E3FA4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71839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718397"/>
                </a:solidFill>
              </a:defRPr>
            </a:pPr>
            <a:r>
              <a:rPr sz="1050" b="1">
                <a:solidFill>
                  <a:srgbClr val="718397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CA161A-A057-4569-9381-785122F8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2197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6D5548-3AC1-42C2-95F2-E8C4B774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B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B40944-BC88-4B00-AF9F-80260A81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247BA0"/>
                </a:solidFill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47BA0"/>
                </a:solidFill>
              </a:defRPr>
            </a:pPr>
            <a:r>
              <a:rPr sz="2325" b="1">
                <a:solidFill>
                  <a:srgbClr val="247BA0"/>
                </a:solidFill>
              </a:rPr>
              <a:t>413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1D4745-635E-486E-AB42-EB04CFC1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526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43A"/>
                </a:solidFill>
              </a:defRPr>
            </a:pPr>
            <a:r>
              <a:rPr sz="1500" b="1">
                <a:solidFill>
                  <a:srgbClr val="10243A"/>
                </a:solidFill>
              </a:rPr>
              <a:t>条真实谱面音符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AEA051-2425-4F38-BA43-83F32AF8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462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364 Tap + 49 Hold；四轨资源已转换、逐条核对。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194A35-FB6D-46A1-9508-F246E391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04950"/>
            <a:ext cx="52197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747F27-6832-4B57-94B1-073BA709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04950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BF8B67-28E1-4F4F-84D5-3F6E4069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954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328B73"/>
                </a:solidFill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328B73"/>
                </a:solidFill>
              </a:defRPr>
            </a:pPr>
            <a:r>
              <a:rPr sz="2325" b="1">
                <a:solidFill>
                  <a:srgbClr val="328B73"/>
                </a:solidFill>
              </a:rPr>
              <a:t>90.07 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823F98-DBA0-466B-8BA2-BDC71DF4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526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43A"/>
                </a:solidFill>
              </a:defRPr>
            </a:pPr>
            <a:r>
              <a:rPr sz="1500" b="1">
                <a:solidFill>
                  <a:srgbClr val="10243A"/>
                </a:solidFill>
              </a:rPr>
              <a:t>配套 PCM 音频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512967-B113-414B-BDDE-A86C44E9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43150"/>
            <a:ext cx="462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48 kHz / 16 bit / 双声道；GAME.BIN 与 GAME.WAV 已生成。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CDFAFE-C7C1-4D9D-8E2A-911283FF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52197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B4597D-0880-4223-987A-027A514D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6C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491A43-073E-4A11-A1BF-2B1D16CE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8B6CA8"/>
                </a:solidFill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8B6CA8"/>
                </a:solidFill>
              </a:defRPr>
            </a:pPr>
            <a:r>
              <a:rPr sz="2325" b="1">
                <a:solidFill>
                  <a:srgbClr val="8B6CA8"/>
                </a:solidFill>
              </a:rPr>
              <a:t>413 / 413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AE9FA6-16E2-4C32-AE71-9C65A1F7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004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43A"/>
                </a:solidFill>
              </a:defRPr>
            </a:pPr>
            <a:r>
              <a:rPr sz="1500" b="1">
                <a:solidFill>
                  <a:srgbClr val="10243A"/>
                </a:solidFill>
              </a:rPr>
              <a:t>整曲判定仿真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0A176C-7B17-4302-84E4-7A5E92AE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62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AUTO：413 Perfect、最大连击 413、100 万分；TEST：413 Miss。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980B2B-F739-4D86-8B71-6162250A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52800"/>
            <a:ext cx="52197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B80B60-ECAA-4DC8-A195-CA74F72F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52800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17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22CB84-6EAD-4461-9C78-276CBF9C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433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C17A3E"/>
                </a:solidFill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C17A3E"/>
                </a:solidFill>
              </a:defRPr>
            </a:pPr>
            <a:r>
              <a:rPr sz="2325" b="1">
                <a:solidFill>
                  <a:srgbClr val="C17A3E"/>
                </a:solidFill>
              </a:rPr>
              <a:t>四阶段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89CD25-71DA-48EA-BD5B-A10A3EDF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004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43A"/>
                </a:solidFill>
              </a:defRPr>
            </a:pPr>
            <a:r>
              <a:rPr sz="1500" b="1">
                <a:solidFill>
                  <a:srgbClr val="10243A"/>
                </a:solidFill>
              </a:rPr>
              <a:t>功能集成已完成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9E4588-FC95-4AFE-AEA1-606E478A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91000"/>
            <a:ext cx="462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SD 读取、PCM 计时、Tap/Hold 判定、暂停/重开与 HUD 集成。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787E62-B1BD-440B-B28F-F7AE8A6E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ED8E71-2564-4FD7-849B-D04B64C0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054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974F4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974F44"/>
                </a:solidFill>
              </a:defRPr>
            </a:pPr>
            <a:r>
              <a:rPr sz="1275" b="1">
                <a:solidFill>
                  <a:srgbClr val="974F44"/>
                </a:solidFill>
              </a:rPr>
              <a:t>当前边界：尚未生成 bitstream，尚无完整板级游戏验证；布线后 setup / hold 仍有违例，资源余量也很小。</a:t>
            </a:r>
          </a:p>
        </p:txBody>
      </p:sp>
    </p:spTree>
    <p:extLst>
      <p:ext uri="{BB962C8B-B14F-4D97-AF65-F5344CB8AC3E}">
        <p14:creationId xmlns:p14="http://schemas.microsoft.com/office/powerpoint/2010/main" val="15499352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ABB8BB-B1C0-4075-A023-5E0FC75D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847831-6B61-49CF-A604-92C80718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后面三周还需做的工作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FC6122-68A2-426A-ABFA-AE065EDC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16D12E-2B32-45D5-BBEB-AB17C2D6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71839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718397"/>
                </a:solidFill>
              </a:defRPr>
            </a:pPr>
            <a:r>
              <a:rPr sz="1050" b="1">
                <a:solidFill>
                  <a:srgbClr val="718397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2D0A4-E515-458A-8117-4D818620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4476750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CEAF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348028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475012-41D5-4925-A688-4FBFC825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BE5603-0B02-43F6-A063-2A71B6BF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技术难点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B232BA-11F2-40F3-A200-284789A3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61DEC2-6B60-4AB0-83E9-F8B75060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71839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718397"/>
                </a:solidFill>
              </a:defRPr>
            </a:pPr>
            <a:r>
              <a:rPr sz="1050" b="1">
                <a:solidFill>
                  <a:srgbClr val="718397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8B2516-1980-4B51-B483-4256EEEC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4476750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CEAF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66002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76F36-91BC-40A9-93B6-65DDCA14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A2615-9634-45C3-ABCE-1D0E2622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具体工作计划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06272-8C46-4688-B258-1542AF2B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26CE0C-5469-4F27-A232-C6E14DEC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71839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718397"/>
                </a:solidFill>
              </a:defRPr>
            </a:pPr>
            <a:r>
              <a:rPr sz="1050" b="1">
                <a:solidFill>
                  <a:srgbClr val="718397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0EB0C-186A-4B21-A587-3930223B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4476750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CEAF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441459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2026-10-08T04:03:58.2570000Z</dcterms:created>
  <dcterms:modified xsi:type="dcterms:W3CDTF">2026-10-08T04:03:58.2570000Z</dcterms:modified>
</coreProperties>
</file>